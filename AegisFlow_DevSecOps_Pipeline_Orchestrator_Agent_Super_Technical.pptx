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4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245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27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 w="12700">
            <a:solidFill>
              <a:srgbClr val="F5FA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" y="685800"/>
            <a:ext cx="10835640" cy="4800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51560" y="1051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71529"/>
                </a:solidFill>
              </a:rPr>
              <a:t>AegisFlow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51560" y="166420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63EB"/>
                </a:solidFill>
              </a:rPr>
              <a:t>DevSecOps Pipeline Orchestrator Agent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78992" y="22677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64748B"/>
                </a:solidFill>
              </a:rPr>
              <a:t>Super-technical architecture, functionality map, and implementation overview</a:t>
            </a:r>
            <a:endParaRPr lang="en-US" sz="1480" dirty="0"/>
          </a:p>
        </p:txBody>
      </p:sp>
      <p:sp>
        <p:nvSpPr>
          <p:cNvPr id="7" name="Shape 5"/>
          <p:cNvSpPr/>
          <p:nvPr/>
        </p:nvSpPr>
        <p:spPr>
          <a:xfrm>
            <a:off x="1069848" y="28529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43000" y="291693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CI/CD cockpit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651760" y="2852928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24912" y="291693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Security gates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233672" y="2852928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06824" y="291693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Coverage evidence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135624" y="285292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08776" y="2916936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AI explanations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1069848" y="331012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143000" y="337413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SonarQube quality gate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383280" y="331012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56432" y="33741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AI Fix Plan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690872" y="3310128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BFDB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64024" y="3374136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2563EB"/>
                </a:solidFill>
              </a:rPr>
              <a:t>Downloadable evidence pack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1051560" y="37490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111827"/>
                </a:solidFill>
              </a:rPr>
              <a:t>Local repository → PR validation → CI/CD checks → SonarQube → evidence → governance → deployment readiness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069848" y="468172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Designed for Python Azure Function DevSecOps standardization and validation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Product Definition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AegisFlow does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 local-first agentic cockpit that turns a repository into PR-ready DevSecOps evidence.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67512" y="1389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481328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" y="1965960"/>
            <a:ext cx="190195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057400"/>
            <a:ext cx="168249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Prefetch repo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Git identity, files, branch, remote, source/test mapping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23774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935224" y="1389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044952" y="1481328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35224" y="1965960"/>
            <a:ext cx="190195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044952" y="2057400"/>
            <a:ext cx="168249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Prepare repo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Generate pipeline/config/test scaffolding and safe fixes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873752" y="2514600"/>
            <a:ext cx="23774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202936" y="1389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12664" y="1481328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02936" y="1965960"/>
            <a:ext cx="190195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12664" y="2057400"/>
            <a:ext cx="168249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Run gates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Ruff, secrets, Bandit, pytest, coverage, Dockerfile, Sonar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141464" y="2514600"/>
            <a:ext cx="23774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470648" y="1389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80376" y="1481328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470648" y="1965960"/>
            <a:ext cx="190195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80376" y="2057400"/>
            <a:ext cx="168249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Explain + fix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AI Error Intelligence, Aegis Chat, AI Fix Plan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409176" y="2514600"/>
            <a:ext cx="237744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738360" y="13898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848088" y="1481328"/>
            <a:ext cx="256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738360" y="1965960"/>
            <a:ext cx="1901952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848088" y="2057400"/>
            <a:ext cx="1682496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Package evidence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b="1" dirty="0">
                <a:solidFill>
                  <a:srgbClr val="071529"/>
                </a:solidFill>
              </a:rPr>
              <a:t>Reports, coverage XML, test XML, ZIP, PR summary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152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71529"/>
                </a:solidFill>
              </a:rPr>
              <a:t>Primary outcome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749808" y="4005072"/>
            <a:ext cx="52120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80" dirty="0">
                <a:solidFill>
                  <a:srgbClr val="111827"/>
                </a:solidFill>
              </a:rPr>
              <a:t>Developers know whether the repo can be safely raised for PR.</a:t>
            </a:r>
            <a:endParaRPr lang="en-US" sz="1380" dirty="0"/>
          </a:p>
          <a:p>
            <a:r>
              <a:rPr lang="en-US" sz="1380" dirty="0">
                <a:solidFill>
                  <a:srgbClr val="111827"/>
                </a:solidFill>
              </a:rPr>
              <a:t>Reviewers receive evidence instead of scattered logs.</a:t>
            </a:r>
            <a:endParaRPr lang="en-US" sz="1380" dirty="0"/>
          </a:p>
          <a:p>
            <a:r>
              <a:rPr lang="en-US" sz="1380" dirty="0">
                <a:solidFill>
                  <a:srgbClr val="111827"/>
                </a:solidFill>
              </a:rPr>
              <a:t>Risky changes require approval and human-in-the-loop decisions.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6446520" y="3657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71529"/>
                </a:solidFill>
              </a:rPr>
              <a:t>Why it matters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6473952" y="4005072"/>
            <a:ext cx="51206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380" dirty="0">
                <a:solidFill>
                  <a:srgbClr val="111827"/>
                </a:solidFill>
              </a:rPr>
              <a:t>Shortens feedback loops before Azure DevOps pipeline execution.</a:t>
            </a:r>
            <a:endParaRPr lang="en-US" sz="1380" dirty="0"/>
          </a:p>
          <a:p>
            <a:r>
              <a:rPr lang="en-US" sz="1380" dirty="0">
                <a:solidFill>
                  <a:srgbClr val="111827"/>
                </a:solidFill>
              </a:rPr>
              <a:t>Makes acceptance criteria visible and auditable.</a:t>
            </a:r>
            <a:endParaRPr lang="en-US" sz="1380" dirty="0"/>
          </a:p>
          <a:p>
            <a:r>
              <a:rPr lang="en-US" sz="1380" dirty="0">
                <a:solidFill>
                  <a:srgbClr val="111827"/>
                </a:solidFill>
              </a:rPr>
              <a:t>Supports a central template CI/CD model across function repos.</a:t>
            </a:r>
            <a:endParaRPr lang="en-US" sz="13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Functionality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Functionality inventory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Every capability implemented or designed into the orchestrator.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234440"/>
            <a:ext cx="1874520" cy="5638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27101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234440"/>
            <a:ext cx="9144000" cy="5638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23744" y="127101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798320"/>
            <a:ext cx="18745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" y="183489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intelligence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798320"/>
            <a:ext cx="914400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523744" y="183489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Git root, branch, remote, provider, changed files, source files, test mapping, protected folders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362200"/>
            <a:ext cx="187452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9224" y="239877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restructuring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362200"/>
            <a:ext cx="914400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23744" y="239877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Create/update pipeline files, requirements-dev, pytest.ini, .coveragerc, Sonar config, .gitignore entries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2926080"/>
            <a:ext cx="18745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96265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gates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926080"/>
            <a:ext cx="914400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23744" y="296265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check, Ruff format/lint, secret scan, detect-secrets, Bandit, Pytest, coverage, Hadolint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489960"/>
            <a:ext cx="187452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24" y="352653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68880" y="3489960"/>
            <a:ext cx="914400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23744" y="352653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 configuration, scanner bootstrap, coverage upload, quality gate wait, skipped/failed/pass visibility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053840"/>
            <a:ext cx="18745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9224" y="409041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4053840"/>
            <a:ext cx="914400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523744" y="409041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 bootstrap, qwen2.5-coder support, deterministic fallback, Aegis Chat, error explanations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4617720"/>
            <a:ext cx="187452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465429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Fix Plan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4617720"/>
            <a:ext cx="914400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23744" y="465429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diffs, approval checkbox, patch application, rerun affected validation, before/after result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5181600"/>
            <a:ext cx="187452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9224" y="521817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5181600"/>
            <a:ext cx="9144000" cy="5638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523744" y="521817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Markdown/JSON reports, coverage.xml, test-results.xml, evidence ZIP, Azure DevOps-style coverage view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" y="5745480"/>
            <a:ext cx="187452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49224" y="5782056"/>
            <a:ext cx="176479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5745480"/>
            <a:ext cx="9144000" cy="5638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23744" y="5782056"/>
            <a:ext cx="9034272" cy="490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criteria, release decision support, human-in-loop approvals, safety gates, PR comment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AegisFlow fits into the target DevSecOps model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It does not replace Azure DevOps; it prepares, validates, explains, and packages evidence before the cloud pipeline.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5528" y="150876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Developer workstation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AegisFlow dashboard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063240" y="141732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72968" y="1508760"/>
            <a:ext cx="17007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Azure Repos / GitHub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feature branch + PR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349240" y="141732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58968" y="1508760"/>
            <a:ext cx="19293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Azure Pipelines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PR validation + CI + CD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909560" y="1417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019288" y="1508760"/>
            <a:ext cx="179222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Quality gates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Ruff + tests + security + Sonar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149840" y="1417320"/>
            <a:ext cx="1600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259568" y="1508760"/>
            <a:ext cx="138074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529"/>
                </a:solidFill>
              </a:rPr>
              <a:t>Production readiness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71529"/>
                </a:solidFill>
              </a:rPr>
              <a:t>artifact + deployment + health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97480" y="1874520"/>
            <a:ext cx="35661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83480" y="1874520"/>
            <a:ext cx="35661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98080" y="1874520"/>
            <a:ext cx="402336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921240" y="1874520"/>
            <a:ext cx="21031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0080" y="2944368"/>
            <a:ext cx="111556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3200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AegisFlow responsibilities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96112" y="3547872"/>
            <a:ext cx="2926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</a:rPr>
              <a:t>Local evidence generation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Failure diagnosis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Safe fix planning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Acceptance criteria readiness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PR comment generation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4434840" y="3200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</a:rPr>
              <a:t>Azure DevOps responsibilities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4462272" y="3547872"/>
            <a:ext cx="30175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</a:rPr>
              <a:t>Branch policies and PR approval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Cloud pipeline run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Published test / code coverage results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Artifact retention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Deployment permissions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001000" y="3200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7C3AED"/>
                </a:solidFill>
              </a:rPr>
              <a:t>Human ownership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8028432" y="3547872"/>
            <a:ext cx="29260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</a:rPr>
              <a:t>Merge approval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Production release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Security exceptions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Architecture sign-off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Compliance sign-off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Super-technical system architecture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Layered view of UI, orchestration, validation engines, integrations, and evidence outputs.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13232" y="1170432"/>
            <a:ext cx="10744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2563EB"/>
                </a:solidFill>
              </a:rPr>
              <a:t>User Interface Layer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3611880" y="1271016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Streamlit dashboard: Repo Preflight, Acceptance Criteria, Live Progress, Report &amp; Downloads, SonarQube, AI Chat, Governance, PR Comment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713232" y="2121408"/>
            <a:ext cx="10744200" cy="758952"/>
          </a:xfrm>
          <a:prstGeom prst="roundRect">
            <a:avLst>
              <a:gd name="adj" fmla="val 9639"/>
            </a:avLst>
          </a:prstGeom>
          <a:solidFill>
            <a:srgbClr val="F1F8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0120" y="22311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71529"/>
                </a:solidFill>
              </a:rPr>
              <a:t>Agent Orchestration Layer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3611880" y="2221992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AegisFlow Orchestrator Agent: run plan, state, protected paths, safety gates, command execution, session persistence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13232" y="3072384"/>
            <a:ext cx="10744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31821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0F766E"/>
                </a:solidFill>
              </a:rPr>
              <a:t>Validation &amp; Intelligence Layer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3611880" y="3172968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Repo inspector, file generator, validation runner, failure classifier, AI fix planner, evidence generator, governance engine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13232" y="4023360"/>
            <a:ext cx="10744200" cy="758952"/>
          </a:xfrm>
          <a:prstGeom prst="roundRect">
            <a:avLst>
              <a:gd name="adj" fmla="val 9639"/>
            </a:avLst>
          </a:prstGeom>
          <a:solidFill>
            <a:srgbClr val="F1F8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41330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7C3AED"/>
                </a:solidFill>
              </a:rPr>
              <a:t>External Integration Layer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3611880" y="4123944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Git, Azure DevOps API, SonarScanner, Ollama/qwen2.5-coder, Hadolint, Pytest, Ruff, Bandit, detect-secrets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13232" y="4974336"/>
            <a:ext cx="1074420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5084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0" b="1" dirty="0">
                <a:solidFill>
                  <a:srgbClr val="16A34A"/>
                </a:solidFill>
              </a:rPr>
              <a:t>Target Platform Layer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3611880" y="5074920"/>
            <a:ext cx="7452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334155"/>
                </a:solidFill>
              </a:rPr>
              <a:t>Azure Repos/GitHub, Azure Pipelines, SonarQube VM/SonarCloud, Azure Function App, Azure Artifacts, Key Vault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080760" y="1938528"/>
            <a:ext cx="0" cy="1645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080760" y="2889504"/>
            <a:ext cx="0" cy="1645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080760" y="3840480"/>
            <a:ext cx="0" cy="1645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080760" y="4791456"/>
            <a:ext cx="0" cy="164592"/>
          </a:xfrm>
          <a:prstGeom prst="line">
            <a:avLst/>
          </a:prstGeom>
          <a:noFill/>
          <a:ln w="1397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Detailed component architecture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How AegisFlow is composed internally and how data moves between components.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85800" y="11430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1841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Inputs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5528" y="1600200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Local repository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Git + files + config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2331720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95528" y="2423160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User settings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checkboxes + credentials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154680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95528" y="3246120"/>
            <a:ext cx="160934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Org standards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acceptance criteria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11430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71529"/>
          </a:solidFill>
          <a:ln w="12700">
            <a:solidFill>
              <a:srgbClr val="0715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17520" y="11841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Agent Core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971800" y="141732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715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081528" y="1508760"/>
            <a:ext cx="17465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GitContextResolver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71800" y="205740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715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081528" y="2148840"/>
            <a:ext cx="17465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RepoInspector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71800" y="269748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0715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081528" y="2788920"/>
            <a:ext cx="17465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AcceptanceEngine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71800" y="3337560"/>
            <a:ext cx="1965960" cy="50292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081528" y="3429000"/>
            <a:ext cx="17465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71529"/>
                </a:solidFill>
              </a:rPr>
              <a:t>RunPlanner + SafetyGate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440680" y="11430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0" y="11841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Execution Engines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440680" y="141732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50408" y="1508760"/>
            <a:ext cx="183794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FileGenerator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YAML / config / tests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5440680" y="214884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50408" y="2240280"/>
            <a:ext cx="183794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ValidationRunner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Ruff / pytest / Bandit / Hadolint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5440680" y="288036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550408" y="2971800"/>
            <a:ext cx="183794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SonarRunner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scanner + quality gate</a:t>
            </a:r>
            <a:endParaRPr lang="en-US" sz="1010" dirty="0"/>
          </a:p>
        </p:txBody>
      </p:sp>
      <p:sp>
        <p:nvSpPr>
          <p:cNvPr id="35" name="Shape 33"/>
          <p:cNvSpPr/>
          <p:nvPr/>
        </p:nvSpPr>
        <p:spPr>
          <a:xfrm>
            <a:off x="5440680" y="3611880"/>
            <a:ext cx="205740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550408" y="3703320"/>
            <a:ext cx="183794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FixPlanEngine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diff + approval + patch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8001000" y="11430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46720" y="11841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AI + Outputs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1000" y="1417320"/>
            <a:ext cx="2148840" cy="594360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110728" y="1508760"/>
            <a:ext cx="19293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FailureIntelligenceEngine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category + owner + severity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8001000" y="2148840"/>
            <a:ext cx="2148840" cy="594360"/>
          </a:xfrm>
          <a:prstGeom prst="roundRect">
            <a:avLst>
              <a:gd name="adj" fmla="val 1538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10728" y="2240280"/>
            <a:ext cx="19293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LocalLLMAdvisor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Ollama / qwen2.5-coder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8001000" y="2880360"/>
            <a:ext cx="2148840" cy="594360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110728" y="2971800"/>
            <a:ext cx="19293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EvidenceBuilder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MD + JSON + XML + ZIP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8001000" y="3611880"/>
            <a:ext cx="2148840" cy="594360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110728" y="3703320"/>
            <a:ext cx="19293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GitPublisher / PRClient</a:t>
            </a:r>
            <a:endParaRPr lang="en-US" sz="1010" dirty="0"/>
          </a:p>
          <a:p>
            <a:pPr marL="0" indent="0" algn="ctr">
              <a:buNone/>
            </a:pPr>
            <a:r>
              <a:rPr lang="en-US" sz="1010" b="1" dirty="0">
                <a:solidFill>
                  <a:srgbClr val="071529"/>
                </a:solidFill>
              </a:rPr>
              <a:t>branch + push + PR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10652760" y="11430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698480" y="11841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Targets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10469880" y="150876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579608" y="1600200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Azure DevOps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Pipelines / PR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0469880" y="233172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0579608" y="2423160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SonarQube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quality gate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10469880" y="3154680"/>
            <a:ext cx="1417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10579608" y="3246120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Evidence Pack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071529"/>
                </a:solidFill>
              </a:rPr>
              <a:t>Download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2514600" y="1847088"/>
            <a:ext cx="43891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514600" y="2670048"/>
            <a:ext cx="43891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2514600" y="3493008"/>
            <a:ext cx="43891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956048" y="1847088"/>
            <a:ext cx="47548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956048" y="2450592"/>
            <a:ext cx="475488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956048" y="3063240"/>
            <a:ext cx="475488" cy="64008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4956048" y="3675888"/>
            <a:ext cx="475488" cy="210312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516368" y="2450592"/>
            <a:ext cx="475488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516368" y="3182112"/>
            <a:ext cx="47548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7516368" y="3913632"/>
            <a:ext cx="47548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10168128" y="3913632"/>
            <a:ext cx="292608" cy="0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10168128" y="3182112"/>
            <a:ext cx="292608" cy="310896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10168128" y="2450592"/>
            <a:ext cx="292608" cy="219456"/>
          </a:xfrm>
          <a:prstGeom prst="line">
            <a:avLst/>
          </a:prstGeom>
          <a:noFill/>
          <a:ln w="2032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2971800" y="4892040"/>
            <a:ext cx="7178040" cy="658368"/>
          </a:xfrm>
          <a:prstGeom prst="roundRect">
            <a:avLst>
              <a:gd name="adj" fmla="val 13889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081528" y="4983480"/>
            <a:ext cx="695858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71529"/>
                </a:solidFill>
              </a:rPr>
              <a:t>Session State + Last Run Cache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71529"/>
                </a:solidFill>
              </a:rPr>
              <a:t>keeps results visible across tab switches, downloads and Streamlit refreshes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Architecture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sequence diagram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From paste repo path to PR-ready evidence, with safety gates and optional cloud integrations.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4008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User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138988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6032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7004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AegisFlow UI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331012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48056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9028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Orchestrator Agent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23036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0080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1052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Validation Tools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15060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2104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43076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AI / Ollama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07084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241280" y="1143000"/>
            <a:ext cx="15087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351008" y="1234440"/>
            <a:ext cx="128930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71529"/>
                </a:solidFill>
              </a:rPr>
              <a:t>Azure DevOps / Sonar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10991088" y="1627632"/>
            <a:ext cx="0" cy="4389120"/>
          </a:xfrm>
          <a:prstGeom prst="line">
            <a:avLst/>
          </a:prstGeom>
          <a:noFill/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389888" y="1828800"/>
            <a:ext cx="19202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463040" y="168249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Paste repo path + confirm repo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10128" y="2240280"/>
            <a:ext cx="19202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83280" y="20939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Start run + selected options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5230368" y="2651760"/>
            <a:ext cx="19202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0" y="2505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Run validation commands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7150608" y="3063240"/>
            <a:ext cx="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03520" y="29169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Return pass/fail logs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5230368" y="3474720"/>
            <a:ext cx="38404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03520" y="332841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Ask for explanation / fix plan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9070848" y="3886200"/>
            <a:ext cx="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03520" y="373989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Advice or deterministic fallback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5230368" y="4297680"/>
            <a:ext cx="57607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03520" y="415137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Run Sonar / create PR if configured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10991088" y="4709160"/>
            <a:ext cx="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03520" y="4562856"/>
            <a:ext cx="5614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Quality gate / PR response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5230368" y="5120640"/>
            <a:ext cx="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83280" y="49743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Reports, evidence pack, PR comment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3310128" y="5532120"/>
            <a:ext cx="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463040" y="538581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334155"/>
                </a:solidFill>
              </a:rPr>
              <a:t>Dashboard + download + copy PR summary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822960" y="6053328"/>
            <a:ext cx="10607040" cy="384048"/>
          </a:xfrm>
          <a:prstGeom prst="roundRect">
            <a:avLst>
              <a:gd name="adj" fmla="val 2381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32688" y="6144768"/>
            <a:ext cx="103875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</a:rPr>
              <a:t>Blocking condition: if validations fail, commit/push/PR is blocked unless explicit override is enabled.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Agentic Workflow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execution loop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Observe → plan → act → evaluate → explain → fix with approval → evidence.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Observe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Repo, branch, files, config, tests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170432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41448" y="1261872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Plan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Decide checks and required generators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170432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315968" y="1261872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Run tools and commands with live logs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82880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90488" y="1920240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Evaluate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Classify pass/fail/skipped/manual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90488" y="3429000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Explain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Aegis Chat + error intelligence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4041648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15968" y="4133088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Fix Plan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Propose exact diffs and rerun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31720" y="4041648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441448" y="4133088"/>
            <a:ext cx="119786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Evidence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Reports, ZIP, PR comment, decision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2267712"/>
            <a:ext cx="1828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749040" y="1609344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23560" y="1609344"/>
            <a:ext cx="457200" cy="658368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498080" y="2267712"/>
            <a:ext cx="0" cy="150876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498080" y="3776472"/>
            <a:ext cx="0" cy="704088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23560" y="4480560"/>
            <a:ext cx="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49040" y="4480560"/>
            <a:ext cx="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001000" y="182880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110728" y="1920240"/>
            <a:ext cx="3209544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71529"/>
                </a:solidFill>
              </a:rPr>
              <a:t>Human-in-the-loop guardrail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071529"/>
                </a:solidFill>
              </a:rPr>
              <a:t>Production, secrets, architecture, compliance and risky business logic changes are not auto-approved.</a:t>
            </a:r>
            <a:endParaRPr lang="en-US" sz="12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UI/UX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modules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What the user sees and why each tab exists.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143000"/>
            <a:ext cx="1874520" cy="5257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17957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4572000" cy="5257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23744" y="117957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shows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143000"/>
            <a:ext cx="4572000" cy="5257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95744" y="117957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value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1668780"/>
            <a:ext cx="187452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" y="170535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Preflight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166878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23744" y="170535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identity, file inventory, source/test mapping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166878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95744" y="170535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running on the wrong repo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194560"/>
            <a:ext cx="187452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23113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68880" y="219456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23744" y="223113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 checklist with pass/fail/manual states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219456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095744" y="223113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closure readiness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720340"/>
            <a:ext cx="187452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" y="275691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Progress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68880" y="272034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23744" y="275691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timeline, heartbeats, logs, elapsed time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272034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095744" y="275691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Feels like a real CI/CD run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246120"/>
            <a:ext cx="187452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328269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&amp; Downloads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324612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23744" y="328269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ZIP, reports, coverage cards, XML previews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324612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095744" y="328269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Audit-ready evidence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771900"/>
            <a:ext cx="187452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" y="380847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Error Intelligence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68880" y="377190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523744" y="380847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Failures, severity, owner, suggested fixes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040880" y="377190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095744" y="380847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logs into action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4297680"/>
            <a:ext cx="187452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9224" y="433425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Fix Plan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68880" y="429768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523744" y="433425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Diffs, approval, patch, rerun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40880" y="429768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095744" y="433425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agentic correction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" y="4823460"/>
            <a:ext cx="187452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9224" y="486003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 Chat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68880" y="482346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523744" y="486003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about Dockerfile, Pytest, Sonar, PR readiness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040880" y="482346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095744" y="486003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explanation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5349240"/>
            <a:ext cx="187452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9224" y="538581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68880" y="534924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523744" y="538581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 status, skipped reason, logs, quality gate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040880" y="5349240"/>
            <a:ext cx="4572000" cy="5257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095744" y="538581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coverage from Sonar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4360" y="5875020"/>
            <a:ext cx="187452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49224" y="5911596"/>
            <a:ext cx="176479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/ PR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468880" y="587502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2523744" y="591159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decision, sign-off, copyable PR summary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040880" y="5875020"/>
            <a:ext cx="4572000" cy="5257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095744" y="5911596"/>
            <a:ext cx="446227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Review-ready communication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Repo Preflight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preflight and safety checks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first verifies where it is operating before it can modify anything.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645920" cy="841248"/>
          </a:xfrm>
          <a:prstGeom prst="roundRect">
            <a:avLst>
              <a:gd name="adj" fmla="val 10870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508760"/>
            <a:ext cx="14264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Input path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/local/repo/path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2788920" y="1417320"/>
            <a:ext cx="182880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98648" y="15087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Resolve Git root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subfolder → repo root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010912" y="1417320"/>
            <a:ext cx="201168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1508760"/>
            <a:ext cx="17922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Read Git identity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branch / remote / HEAD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406640" y="1417320"/>
            <a:ext cx="19202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16368" y="150876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Inventory files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src / tests / configs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738360" y="1417320"/>
            <a:ext cx="1737360" cy="841248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848088" y="1508760"/>
            <a:ext cx="15179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User confirmation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correct repo?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2395728" y="1847088"/>
            <a:ext cx="3657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26864" y="1847088"/>
            <a:ext cx="36576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40880" y="1847088"/>
            <a:ext cx="34747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36024" y="1847088"/>
            <a:ext cx="38404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2971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C2626"/>
                </a:solidFill>
              </a:rPr>
              <a:t>Protected folders excluded from all scans and commits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49808" y="3310128"/>
            <a:ext cx="49377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.git, .venv, __pycache__, .pytest_cache, .ruff_cache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orchestrator_reports, .aegisflow_backups, htmlcov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node_modules, dist, build and generated artifacts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6446520" y="2971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</a:rPr>
              <a:t>Preflight outputs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473952" y="3310128"/>
            <a:ext cx="4846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Repo name, provider, remote URL, current branch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Source files, test files, missing test mapping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CI/CD config files and acceptance criteria status</a:t>
            </a:r>
            <a:endParaRPr lang="en-US" sz="12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Acceptance Criteria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Acceptance criteria dashboard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user story checklist becomes a visible pass/fail/manual readiness matrix.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143000"/>
            <a:ext cx="251460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1795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area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493776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63824" y="11795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AegisFlow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143000"/>
            <a:ext cx="356616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01584" y="11795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logic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1727200"/>
            <a:ext cx="25146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" y="17637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unwanted files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08960" y="1727200"/>
            <a:ext cx="49377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63824" y="17637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Dockerfile/.dockerignore, sample files, .vscode, local.settings.json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1727200"/>
            <a:ext cx="35661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01584" y="17637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 / manual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11400"/>
            <a:ext cx="25146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3479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Restructure folders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0" y="2311400"/>
            <a:ext cx="49377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163824" y="23479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src/, tests/, src/conf/, function.json, host.json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2311400"/>
            <a:ext cx="35661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01584" y="23479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if expected paths exist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895600"/>
            <a:ext cx="25146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" y="29321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imports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2895600"/>
            <a:ext cx="49377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163824" y="29321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legacy module path patterns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046720" y="2895600"/>
            <a:ext cx="35661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101584" y="29321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if old paths found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479800"/>
            <a:ext cx="25146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35163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 parameters.yaml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3479800"/>
            <a:ext cx="49377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163824" y="35163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local absolute paths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3479800"/>
            <a:ext cx="35661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101584" y="35163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Fail/manual if hardcoded local path exists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4064000"/>
            <a:ext cx="25146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" y="41005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requirements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4064000"/>
            <a:ext cx="49377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163824" y="41005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 vs dev dependency files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46720" y="4064000"/>
            <a:ext cx="35661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8101584" y="41005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Pass/partial based on dev tools location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" y="4648200"/>
            <a:ext cx="25146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9224" y="46847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files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08960" y="4648200"/>
            <a:ext cx="49377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163824" y="46847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azure-pipelines.yml, azure-function.config.yml, Sonar config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046720" y="4648200"/>
            <a:ext cx="35661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101584" y="46847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if present and parseable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94360" y="5232400"/>
            <a:ext cx="25146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9224" y="52689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locally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108960" y="5232400"/>
            <a:ext cx="49377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163824" y="52689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Ruff, tests, coverage, Dockerfile lint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46720" y="5232400"/>
            <a:ext cx="356616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101584" y="52689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if validation events pass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5816600"/>
            <a:ext cx="25146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9224" y="5853176"/>
            <a:ext cx="24048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Cloud-only items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08960" y="5816600"/>
            <a:ext cx="49377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163824" y="5853176"/>
            <a:ext cx="48280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policies, deployment, rollback, approvals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46720" y="5816600"/>
            <a:ext cx="356616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8101584" y="5853176"/>
            <a:ext cx="345643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Manual/cloud-only until Azure verifies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Validation Engine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engine and quality gates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Local checks mirror the cloud PR validation and CI quality gates.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21792" y="1325880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 quality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1764792"/>
            <a:ext cx="205740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183794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Python compile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Ruff format check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Ruff lint check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926080" y="1325880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035808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26080" y="1764792"/>
            <a:ext cx="205740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35808" y="1856232"/>
            <a:ext cx="183794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Lightweight secret scan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detect-secrets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Bandit SAST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230368" y="1325880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40096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Testing + coverage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30368" y="1764792"/>
            <a:ext cx="205740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40096" y="1856232"/>
            <a:ext cx="183794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pytest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pytest-cov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coverage.xml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test-results.xml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534656" y="1325880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644384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Container + deps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534656" y="1764792"/>
            <a:ext cx="205740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44384" y="1856232"/>
            <a:ext cx="183794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Hadolint Dockerfile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requirements install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pip-audit-ready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838944" y="1325880"/>
            <a:ext cx="2057400" cy="384048"/>
          </a:xfrm>
          <a:prstGeom prst="roundRect">
            <a:avLst>
              <a:gd name="adj" fmla="val 2381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948672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Static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838944" y="1764792"/>
            <a:ext cx="2057400" cy="22402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948672" y="1856232"/>
            <a:ext cx="1837944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SonarScanner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coverage upload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quality gate wait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529"/>
                </a:solidFill>
              </a:rPr>
              <a:t>Each gate emits structured events: status, command, elapsed time, logs, category, severity and suggested owner.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3232" y="5285232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22960" y="5376672"/>
            <a:ext cx="10479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71529"/>
                </a:solidFill>
              </a:rPr>
              <a:t>Pass → evidence pack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71529"/>
                </a:solidFill>
              </a:rPr>
              <a:t>Fail → owner + fix plan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071529"/>
                </a:solidFill>
              </a:rPr>
              <a:t>Skipped → missing credential or cloud-only dependency</a:t>
            </a:r>
            <a:endParaRPr lang="en-US" sz="13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SonarQube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SonarQube / SonarCloud integration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distinguishes Azure DevOps coverage from SonarQube quality gate analysis.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444752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536192"/>
            <a:ext cx="160934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Pytest coverage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coverage.xml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063240" y="1444752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72968" y="1536192"/>
            <a:ext cx="20208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SonarScanner CLI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sonar-project.properties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144475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07608" y="1536192"/>
            <a:ext cx="220370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SonarQube server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SONAR_HOST_URL + TOKEN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15400" y="1444752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025128" y="1536192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Quality Gate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pass / fail / skipped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578608" y="1828800"/>
            <a:ext cx="475488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21808" y="1828800"/>
            <a:ext cx="55778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39328" y="1828800"/>
            <a:ext cx="55778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Outputs shown in AegisFlow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49808" y="3355848"/>
            <a:ext cx="47548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Sonar passed/failed/skipped card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Scanner command and logs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Missing variable explanation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Quality gate wait result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</a:rPr>
              <a:t>Outputs shown in SonarQube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419088" y="3355848"/>
            <a:ext cx="47548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Bugs, vulnerabilities, code smells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Duplications and security hotspots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Coverage imported from coverage.xml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Long-term quality history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5687568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i="1" dirty="0">
                <a:solidFill>
                  <a:srgbClr val="64748B"/>
                </a:solidFill>
              </a:rPr>
              <a:t>Azure DevOps Code Coverage tab is separate: PublishCodeCoverageResults renders coverage.xml inside the pipeline run.</a:t>
            </a:r>
            <a:endParaRPr lang="en-US" sz="12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Evidence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pack and dashboard reporting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Everything needed for review is visible on the dashboard and downloadable as a ZIP.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143000"/>
            <a:ext cx="2194560" cy="645795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179576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788920" y="1143000"/>
            <a:ext cx="4572000" cy="645795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43784" y="1179576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360920" y="1143000"/>
            <a:ext cx="4251960" cy="645795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415784" y="1179576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preview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94360" y="1788795"/>
            <a:ext cx="21945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" y="1825371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 report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788920" y="1788795"/>
            <a:ext cx="457200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843784" y="1825371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Human-readable evidence summary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360920" y="1788795"/>
            <a:ext cx="42519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415784" y="1825371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tab + download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94360" y="2434590"/>
            <a:ext cx="21945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471166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report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788920" y="2434590"/>
            <a:ext cx="457200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43784" y="2471166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Machine-readable run detail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360920" y="2434590"/>
            <a:ext cx="42519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15784" y="2471166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Expandable JSON preview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4360" y="3080385"/>
            <a:ext cx="21945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" y="3116961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coverage.xml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788920" y="3080385"/>
            <a:ext cx="457200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843784" y="3116961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coverage for Azure DevOps and Sonar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360920" y="3080385"/>
            <a:ext cx="42519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415784" y="3116961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DevOps-style cards and file table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594360" y="3726180"/>
            <a:ext cx="21945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3762756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test-results.xml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2788920" y="3726180"/>
            <a:ext cx="457200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843784" y="3762756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JUnit test results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360920" y="3726180"/>
            <a:ext cx="42519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15784" y="3762756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Pass/fail counts and raw XML preview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594360" y="4371975"/>
            <a:ext cx="21945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" y="4408551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 output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2788920" y="4371975"/>
            <a:ext cx="457200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843784" y="4408551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Scanner log and quality gate context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7360920" y="4371975"/>
            <a:ext cx="42519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415784" y="4408551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 tab + report preview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594360" y="5017770"/>
            <a:ext cx="21945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9224" y="5054346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comment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2788920" y="5017770"/>
            <a:ext cx="457200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843784" y="5054346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Copyable summary for PR review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7360920" y="5017770"/>
            <a:ext cx="4251960" cy="645795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415784" y="5054346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Comment tab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594360" y="5663565"/>
            <a:ext cx="21945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9224" y="5700141"/>
            <a:ext cx="20848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ZIP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2788920" y="5663565"/>
            <a:ext cx="457200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843784" y="5700141"/>
            <a:ext cx="446227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package for audit/review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7360920" y="5663565"/>
            <a:ext cx="4251960" cy="645795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415784" y="5700141"/>
            <a:ext cx="4142232" cy="572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contents table + download</a:t>
            </a:r>
            <a:endParaRPr lang="en-US" sz="9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Coverage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DevOps-style coverage view in AegisFlow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renders coverage.xml in a visual form similar to Azure DevOps Code Coverage.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58368" y="1207008"/>
            <a:ext cx="5724144" cy="3849624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0" descr="/mnt/data/image(179).png"/>
          <p:cNvPicPr>
            <a:picLocks noChangeAspect="1"/>
          </p:cNvPicPr>
          <p:nvPr/>
        </p:nvPicPr>
        <p:blipFill>
          <a:blip r:embed="rId3"/>
          <a:srcRect l="16602" r="16602"/>
          <a:stretch/>
        </p:blipFill>
        <p:spPr>
          <a:xfrm>
            <a:off x="685800" y="1234440"/>
            <a:ext cx="5669280" cy="3794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12280" y="132588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58584" y="144475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563EB"/>
                </a:solidFill>
              </a:rPr>
              <a:t>99%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922008" y="189280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Line coverage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22208" y="1325880"/>
            <a:ext cx="15087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668512" y="1444752"/>
            <a:ext cx="1216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6A34A"/>
                </a:solidFill>
              </a:rPr>
              <a:t>195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631936" y="1892808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Covered lines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241280" y="1325880"/>
            <a:ext cx="1097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387584" y="144475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C2626"/>
                </a:solidFill>
              </a:rPr>
              <a:t>1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0351008" y="189280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Uncovered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12280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922008" y="2788920"/>
            <a:ext cx="1975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Data source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pytest-cov → coverage.xml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44000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253728" y="2788920"/>
            <a:ext cx="19751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Azure DevOps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PublishCodeCoverageResults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9015984" y="3108960"/>
            <a:ext cx="118872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812280" y="3977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71529"/>
                </a:solidFill>
              </a:rPr>
              <a:t>Why this matters</a:t>
            </a:r>
            <a:endParaRPr lang="en-US" sz="1320" dirty="0"/>
          </a:p>
        </p:txBody>
      </p:sp>
      <p:sp>
        <p:nvSpPr>
          <p:cNvPr id="26" name="Text 23"/>
          <p:cNvSpPr/>
          <p:nvPr/>
        </p:nvSpPr>
        <p:spPr>
          <a:xfrm>
            <a:off x="6839712" y="4315968"/>
            <a:ext cx="42976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80" dirty="0">
                <a:solidFill>
                  <a:srgbClr val="111827"/>
                </a:solidFill>
              </a:rPr>
              <a:t>Developers do not need to open Azure DevOps to inspect coverage evidence.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Reviewers see the same coverage concept inside the AegisFlow evidence dashboard.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The same coverage.xml can feed Azure DevOps and SonarQube.</a:t>
            </a:r>
            <a:endParaRPr lang="en-US" sz="11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AI Intelligence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Error Intelligence and Aegis Chat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agent converts failing logs into actionable ownership and next steps.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77240" y="1508760"/>
            <a:ext cx="18745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86968" y="1600200"/>
            <a:ext cx="165506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Raw logs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pytest / hadolint / sonar / git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3063240" y="150876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72968" y="1600200"/>
            <a:ext cx="179222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Failure classifier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category + severity + owner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577840" y="1508760"/>
            <a:ext cx="2148840" cy="777240"/>
          </a:xfrm>
          <a:prstGeom prst="roundRect">
            <a:avLst>
              <a:gd name="adj" fmla="val 11765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87568" y="1600200"/>
            <a:ext cx="192938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AI advisor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Ollama qwen2.5-coder + fallback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75320" y="1508760"/>
            <a:ext cx="2331720" cy="77724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85048" y="1600200"/>
            <a:ext cx="211226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User answer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071529"/>
                </a:solidFill>
              </a:rPr>
              <a:t>why + fix + approval need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670048" y="1874520"/>
            <a:ext cx="37490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02352" y="1874520"/>
            <a:ext cx="4572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754112" y="1874520"/>
            <a:ext cx="50292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2971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C2626"/>
                </a:solidFill>
              </a:rPr>
              <a:t>Failure categories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04672" y="3291840"/>
            <a:ext cx="356616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developer code issue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test expectation issue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tooling/dependency issue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pipeline configuration issue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security/governance issue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2971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Chat examples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645152" y="3291840"/>
            <a:ext cx="33832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Why did Dockerfile lint fail?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Why did Pytest fail after auto-repair?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Can this be fixed safely?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Is this PR ready for review?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2971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</a:rPr>
              <a:t>Safety behavior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8394192" y="3291840"/>
            <a:ext cx="338328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No blind business logic edits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No secret exposure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No production approval automation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Deterministic fallback if LLM unavailable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AI Fix Plan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Fix Plan: review → approve → apply → rerun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Agentic correction is controlled by exact diffs and user approval.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Find issue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hadolint / ruff / pytest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49424" y="1874520"/>
            <a:ext cx="33832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60604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1576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Generate diff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exact proposed changes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23944" y="1874520"/>
            <a:ext cx="33832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48056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9028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Review risk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safe vs review-only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98464" y="1874520"/>
            <a:ext cx="33832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6480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Approve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checkbox required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72984" y="1874520"/>
            <a:ext cx="33832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2960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3932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Apply patch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backup + write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47504" y="1874520"/>
            <a:ext cx="338328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104120" y="141732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13848" y="1508760"/>
            <a:ext cx="128930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Rerun gate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529"/>
                </a:solidFill>
              </a:rPr>
              <a:t>before/after result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2971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563EB"/>
                </a:solidFill>
              </a:rPr>
              <a:t>Fix classes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52120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Safe deterministic fixes: formatting, generated tests, cache cleanup, selected Dockerfile policy comments.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Review-only fixes: business logic, dependency version pinning, architecture, secrets, production settings.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971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766E"/>
                </a:solidFill>
              </a:rPr>
              <a:t>Dockerfile specific flow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611112" y="3310128"/>
            <a:ext cx="44805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Run hadolint and parse DL rule numbers.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Create safe diff or mark review-only.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Approve patch, rerun hadolint, show result.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Git/PR Automation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and PR automation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can create a branch, commit, push, and prepare a PR when safety gates allow it.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5836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Check repo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correct remote and branch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267712" y="1901952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3288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4261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Safety gates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validations pass or override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142232" y="1901952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40740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1713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Create branch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orchestrator/devsecops-ready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016752" y="1901952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8192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9165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Commit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generated files + evidence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891272" y="1901952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15644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6617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Push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origin branch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765792" y="1901952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030968" y="1481328"/>
            <a:ext cx="1600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140696" y="1572768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Create PR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71529"/>
                </a:solidFill>
              </a:rPr>
              <a:t>Azure DevOps API if configured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777240" y="3063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71529"/>
                </a:solidFill>
              </a:rPr>
              <a:t>Required configuration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04672" y="3401568"/>
            <a:ext cx="5120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Repo path and user confirmation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Expected repo/remote keyword if needed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AZDO_ORG_URL, AZDO_PROJECT, AZDO_REPO_ID, AZDO_PAT for automatic PR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6537960" y="3063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C2626"/>
                </a:solidFill>
              </a:rPr>
              <a:t>Safety gate behavior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565392" y="3401568"/>
            <a:ext cx="4846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30" dirty="0">
                <a:solidFill>
                  <a:srgbClr val="111827"/>
                </a:solidFill>
              </a:rPr>
              <a:t>By default, failed validations block commit/push/PR.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Override is explicit and visible.</a:t>
            </a:r>
            <a:endParaRPr lang="en-US" sz="1230" dirty="0"/>
          </a:p>
          <a:p>
            <a:r>
              <a:rPr lang="en-US" sz="1230" dirty="0">
                <a:solidFill>
                  <a:srgbClr val="111827"/>
                </a:solidFill>
              </a:rPr>
              <a:t>Generated folders and backups are protected from commit.</a:t>
            </a:r>
            <a:endParaRPr lang="en-US" sz="12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CI/CD Mapping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mapping: local cockpit ↔ Azure DevOps target state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aligns with the expected PR validation, CI, and CD stages.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280160"/>
            <a:ext cx="2103120" cy="8686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31673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stage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697480" y="1280160"/>
            <a:ext cx="4892040" cy="8686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52344" y="1316736"/>
            <a:ext cx="4782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target-state checks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589520" y="1280160"/>
            <a:ext cx="4023360" cy="86868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644384" y="1316736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AegisFlow support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94360" y="2148840"/>
            <a:ext cx="2103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" y="218541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validation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697480" y="2148840"/>
            <a:ext cx="48920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52344" y="2185416"/>
            <a:ext cx="4782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Formatting, linting, secret scan, AI PR review, unit tests, SonarQube diff scan, config validation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589520" y="2148840"/>
            <a:ext cx="40233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644384" y="2185416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equivalents + PR comment + acceptance criteria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94360" y="3017520"/>
            <a:ext cx="210312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305409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697480" y="3017520"/>
            <a:ext cx="489204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52344" y="3054096"/>
            <a:ext cx="4782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Vault fetch, install prod dependencies, pip-audit, Sonar full scan, zip package, publish artifact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7589520" y="3017520"/>
            <a:ext cx="402336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44384" y="3054096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install, Sonar scan, evidence artifact; Key Vault/cloud items marked manual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94360" y="3886200"/>
            <a:ext cx="21031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" y="392277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697480" y="3886200"/>
            <a:ext cx="489204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52344" y="3922776"/>
            <a:ext cx="4782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artifact, resolve Azure Function, zip deploy, health check, rollback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589520" y="3886200"/>
            <a:ext cx="402336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644384" y="3922776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readiness checks; actual deploy/rollback needs Azure credentials/pipeline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594360" y="4754880"/>
            <a:ext cx="210312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4791456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2697480" y="4754880"/>
            <a:ext cx="489204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52344" y="4791456"/>
            <a:ext cx="478231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policies, approvals, audit logs, managed identity, no direct prod access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7589520" y="4754880"/>
            <a:ext cx="4023360" cy="86868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44384" y="4791456"/>
            <a:ext cx="391363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Manual/cloud-only statuses + release decision support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68580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i="1" dirty="0">
                <a:solidFill>
                  <a:srgbClr val="64748B"/>
                </a:solidFill>
              </a:rPr>
              <a:t>This avoids false positives: AegisFlow marks cloud-only capabilities as manual/partial unless Azure DevOps, SonarQube, or Azure credentials are configured.</a:t>
            </a:r>
            <a:endParaRPr lang="en-US" sz="12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Security/Governance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governance controls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system is agentic, but it deliberately preserves human control over sensitive decisions.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353312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444752"/>
            <a:ext cx="3026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Repository hygiene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local.settings.json, .env, generated folders, caches ignored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4526280" y="1353312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1F8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36008" y="1444752"/>
            <a:ext cx="3026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Secret governance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secret scans, no token commit, Key Vault recommended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321040" y="1353312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30768" y="1444752"/>
            <a:ext cx="3026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Quality governance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Ruff, tests, coverage, Sonar quality gate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31520" y="2953512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1F8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1248" y="3044952"/>
            <a:ext cx="3026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Approval governance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PR comment, HITL review, release decision support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526280" y="2953512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36008" y="3044952"/>
            <a:ext cx="302666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Audit evidence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b="1" dirty="0">
                <a:solidFill>
                  <a:srgbClr val="071529"/>
                </a:solidFill>
              </a:rPr>
              <a:t>reports, logs, coverage, XML, ZIP, raw command output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DC2626"/>
                </a:solidFill>
              </a:rPr>
              <a:t>Never auto-approve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04672" y="4937760"/>
            <a:ext cx="102412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20" dirty="0">
                <a:solidFill>
                  <a:srgbClr val="111827"/>
                </a:solidFill>
              </a:rPr>
              <a:t>Production deployment decisions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Secrets/access governance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Architecture approval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Compliance sign-off</a:t>
            </a:r>
            <a:endParaRPr lang="en-US" sz="1220" dirty="0"/>
          </a:p>
          <a:p>
            <a:r>
              <a:rPr lang="en-US" sz="1220" dirty="0">
                <a:solidFill>
                  <a:srgbClr val="111827"/>
                </a:solidFill>
              </a:rPr>
              <a:t>Risky business logic changes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Technology Stack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 and integration surface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AegisFlow combines deterministic DevSecOps tooling with an optional local LLM assistant.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94360" y="1143000"/>
            <a:ext cx="182880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" y="11795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397764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78024" y="11795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Technologies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6400800" y="1143000"/>
            <a:ext cx="5212080" cy="584200"/>
          </a:xfrm>
          <a:prstGeom prst="rect">
            <a:avLst/>
          </a:prstGeom>
          <a:solidFill>
            <a:srgbClr val="0F766E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55664" y="11795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594360" y="1727200"/>
            <a:ext cx="18288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" y="17637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2423160" y="1727200"/>
            <a:ext cx="397764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78024" y="17637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6400800" y="1727200"/>
            <a:ext cx="521208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55664" y="17637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tabs, download buttons, state persistence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594360" y="2311400"/>
            <a:ext cx="18288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" y="23479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2423160" y="2311400"/>
            <a:ext cx="397764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478024" y="23479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Python, subprocess, session state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400800" y="2311400"/>
            <a:ext cx="521208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55664" y="23479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Orchestration, command execution, run events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594360" y="2895600"/>
            <a:ext cx="18288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9224" y="29321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quality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2423160" y="2895600"/>
            <a:ext cx="397764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478024" y="29321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compileall, Ruff, Hadolint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400800" y="2895600"/>
            <a:ext cx="521208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55664" y="29321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Linting, formatting, Dockerfile validation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594360" y="3479800"/>
            <a:ext cx="18288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9224" y="35163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2423160" y="3479800"/>
            <a:ext cx="397764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478024" y="35163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detect-secrets, Bandit, secret regexes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6400800" y="3479800"/>
            <a:ext cx="521208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55664" y="35163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 and SAST checks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594360" y="4064000"/>
            <a:ext cx="18288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49224" y="41005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2423160" y="4064000"/>
            <a:ext cx="397764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478024" y="41005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pytest, pytest-cov, coverage.py, JUnit XML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6400800" y="4064000"/>
            <a:ext cx="521208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55664" y="41005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 and coverage evidence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594360" y="4648200"/>
            <a:ext cx="18288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9224" y="46847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10" dirty="0"/>
          </a:p>
        </p:txBody>
      </p:sp>
      <p:sp>
        <p:nvSpPr>
          <p:cNvPr id="47" name="Shape 45"/>
          <p:cNvSpPr/>
          <p:nvPr/>
        </p:nvSpPr>
        <p:spPr>
          <a:xfrm>
            <a:off x="2423160" y="4648200"/>
            <a:ext cx="397764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478024" y="46847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Ollama, qwen2.5-coder:7b, deterministic fallback</a:t>
            </a:r>
            <a:endParaRPr lang="en-US" sz="910" dirty="0"/>
          </a:p>
        </p:txBody>
      </p:sp>
      <p:sp>
        <p:nvSpPr>
          <p:cNvPr id="49" name="Shape 47"/>
          <p:cNvSpPr/>
          <p:nvPr/>
        </p:nvSpPr>
        <p:spPr>
          <a:xfrm>
            <a:off x="6400800" y="4648200"/>
            <a:ext cx="521208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55664" y="46847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Aegis Chat and recommendations</a:t>
            </a:r>
            <a:endParaRPr lang="en-US" sz="910" dirty="0"/>
          </a:p>
        </p:txBody>
      </p:sp>
      <p:sp>
        <p:nvSpPr>
          <p:cNvPr id="51" name="Shape 49"/>
          <p:cNvSpPr/>
          <p:nvPr/>
        </p:nvSpPr>
        <p:spPr>
          <a:xfrm>
            <a:off x="594360" y="5232400"/>
            <a:ext cx="182880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9224" y="52689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</a:t>
            </a:r>
            <a:endParaRPr lang="en-US" sz="910" dirty="0"/>
          </a:p>
        </p:txBody>
      </p:sp>
      <p:sp>
        <p:nvSpPr>
          <p:cNvPr id="53" name="Shape 51"/>
          <p:cNvSpPr/>
          <p:nvPr/>
        </p:nvSpPr>
        <p:spPr>
          <a:xfrm>
            <a:off x="2423160" y="5232400"/>
            <a:ext cx="397764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478024" y="52689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Git, Azure DevOps API, Azure Pipelines YAML</a:t>
            </a:r>
            <a:endParaRPr lang="en-US" sz="910" dirty="0"/>
          </a:p>
        </p:txBody>
      </p:sp>
      <p:sp>
        <p:nvSpPr>
          <p:cNvPr id="55" name="Shape 53"/>
          <p:cNvSpPr/>
          <p:nvPr/>
        </p:nvSpPr>
        <p:spPr>
          <a:xfrm>
            <a:off x="6400800" y="5232400"/>
            <a:ext cx="5212080" cy="58420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455664" y="52689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Branch, commit, push, PR, pipeline readiness</a:t>
            </a:r>
            <a:endParaRPr lang="en-US" sz="910" dirty="0"/>
          </a:p>
        </p:txBody>
      </p:sp>
      <p:sp>
        <p:nvSpPr>
          <p:cNvPr id="57" name="Shape 55"/>
          <p:cNvSpPr/>
          <p:nvPr/>
        </p:nvSpPr>
        <p:spPr>
          <a:xfrm>
            <a:off x="594360" y="5816600"/>
            <a:ext cx="182880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49224" y="5853176"/>
            <a:ext cx="171907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analysis</a:t>
            </a:r>
            <a:endParaRPr lang="en-US" sz="910" dirty="0"/>
          </a:p>
        </p:txBody>
      </p:sp>
      <p:sp>
        <p:nvSpPr>
          <p:cNvPr id="59" name="Shape 57"/>
          <p:cNvSpPr/>
          <p:nvPr/>
        </p:nvSpPr>
        <p:spPr>
          <a:xfrm>
            <a:off x="2423160" y="5816600"/>
            <a:ext cx="397764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478024" y="5853176"/>
            <a:ext cx="386791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SonarScanner, SonarQube/SonarCloud</a:t>
            </a:r>
            <a:endParaRPr lang="en-US" sz="910" dirty="0"/>
          </a:p>
        </p:txBody>
      </p:sp>
      <p:sp>
        <p:nvSpPr>
          <p:cNvPr id="61" name="Shape 59"/>
          <p:cNvSpPr/>
          <p:nvPr/>
        </p:nvSpPr>
        <p:spPr>
          <a:xfrm>
            <a:off x="6400800" y="5816600"/>
            <a:ext cx="5212080" cy="58420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455664" y="5853176"/>
            <a:ext cx="5102352" cy="511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upload and quality gate</a:t>
            </a:r>
            <a:endParaRPr lang="en-US" sz="9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Implementation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was implemented through iterations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prototype matured from a scanner into a full DevSecOps cockpit.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MVP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Repo scan, YAML generation, basic evidence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212848" y="2093976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0604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1576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v4-v8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0604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1576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Correction actions, test generation, UI polish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087368" y="2093976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8056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9028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v9-v16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9028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Ollama bootstrap, live progress, pytest repair, better diagnosis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5961888" y="2093976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5508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6480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v17-v22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6480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AI Fix Plan, Aegis Chat, safe patches, protected folders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7836408" y="2093976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960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33932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v23-v25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3932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SonarQube scan, visible Sonar tab, acceptance criteria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9710928" y="2093976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0104120" y="1417320"/>
            <a:ext cx="1463040" cy="41148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213848" y="1508760"/>
            <a:ext cx="12435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v26-v30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104120" y="1901952"/>
            <a:ext cx="14630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7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0213848" y="1993392"/>
            <a:ext cx="1243584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34155"/>
                </a:solidFill>
              </a:rPr>
              <a:t>Persistent reports, evidence previews, Azure DevOps-style coverage view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77240" y="3886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6A34A"/>
                </a:solidFill>
              </a:rPr>
              <a:t>Current product state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804672" y="4224528"/>
            <a:ext cx="51206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</a:rPr>
              <a:t>Local-first CI/CD validation cockpit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Acceptance criteria and PR readiness dashboard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Evidence pack and visual coverage view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AI-assisted diagnosis with approved patch workflow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6446520" y="3886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7C3AED"/>
                </a:solidFill>
              </a:rPr>
              <a:t>Next enterprise additions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473952" y="4224528"/>
            <a:ext cx="4937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</a:rPr>
              <a:t>Azure DevOps pipeline history + trigger API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Branch policy verification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Real deployment and health-check monitor</a:t>
            </a:r>
            <a:endParaRPr lang="en-US" sz="1260" dirty="0"/>
          </a:p>
          <a:p>
            <a:r>
              <a:rPr lang="en-US" sz="1260" dirty="0">
                <a:solidFill>
                  <a:srgbClr val="111827"/>
                </a:solidFill>
              </a:rPr>
              <a:t>Teams/email notifications and org-wide dashboard</a:t>
            </a:r>
            <a:endParaRPr lang="en-US" sz="12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Roadmap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roadmap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What remains for a production-grade platform rollout.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914400" cy="70104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94944" y="127101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1554480" y="1234440"/>
            <a:ext cx="3291840" cy="70104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609344" y="127101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6766560" cy="701040"/>
          </a:xfrm>
          <a:prstGeom prst="rect">
            <a:avLst/>
          </a:prstGeom>
          <a:solidFill>
            <a:srgbClr val="2563EB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01184" y="127101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Description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40080" y="1935480"/>
            <a:ext cx="91440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94944" y="197205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1554480" y="1935480"/>
            <a:ext cx="329184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09344" y="197205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DevOps connected mode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846320" y="1935480"/>
            <a:ext cx="676656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01184" y="197205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pipeline runs, trigger validation, monitor logs, attach PR comments via API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40080" y="2636520"/>
            <a:ext cx="91440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4944" y="267309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1554480" y="2636520"/>
            <a:ext cx="329184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609344" y="267309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template compliance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846320" y="2636520"/>
            <a:ext cx="676656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01184" y="267309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repos against central pipeline template and version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91440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94944" y="337413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554480" y="3337560"/>
            <a:ext cx="329184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609344" y="337413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deployment validation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846320" y="3337560"/>
            <a:ext cx="676656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01184" y="337413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function app, run health check, support rollback visibility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0080" y="4038600"/>
            <a:ext cx="91440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4944" y="407517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1554480" y="4038600"/>
            <a:ext cx="329184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609344" y="407517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 governance dashboard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4846320" y="4038600"/>
            <a:ext cx="6766560" cy="701040"/>
          </a:xfrm>
          <a:prstGeom prst="rect">
            <a:avLst/>
          </a:prstGeom>
          <a:solidFill>
            <a:srgbClr val="F8FAFC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01184" y="407517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coverage, failures, Sonar gate, security issues across repositories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640080" y="4739640"/>
            <a:ext cx="91440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94944" y="4776216"/>
            <a:ext cx="80467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1554480" y="4739640"/>
            <a:ext cx="329184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609344" y="4776216"/>
            <a:ext cx="318211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Policy-as-code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4846320" y="4739640"/>
            <a:ext cx="6766560" cy="701040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01184" y="4776216"/>
            <a:ext cx="6656832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rules for repo structure, approvals, secrets, dependency gates and compliance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713232" y="5623560"/>
            <a:ext cx="10789920" cy="594360"/>
          </a:xfrm>
          <a:prstGeom prst="roundRect">
            <a:avLst>
              <a:gd name="adj" fmla="val 15385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22960" y="5715000"/>
            <a:ext cx="105704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529"/>
                </a:solidFill>
              </a:rPr>
              <a:t>Target vision: AegisFlow becomes the developer-facing UI orchestrator for DevSecOps, while Azure DevOps remains the source of truth for protected branches, cloud pipeline execution, and production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6659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Team Narrative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6583680" y="666597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</a:rPr>
              <a:t>AegisFlow: DevSecOps Pipeline Orchestrator Agent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502920" y="34747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71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explain AegisFlow to the team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30352" y="8321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 concise technical narrative for demos and stakeholder updates.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10652760" cy="777240"/>
          </a:xfrm>
          <a:prstGeom prst="roundRect">
            <a:avLst>
              <a:gd name="adj" fmla="val 11765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10433304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529"/>
                </a:solidFill>
              </a:rPr>
              <a:t>AegisFlow is an agentic DevSecOps cockpit that takes a local Azure Function repo and validates it against the CI/CD acceptance criteria before PR.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2423160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78408" y="2514600"/>
            <a:ext cx="1005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4140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529"/>
                </a:solidFill>
              </a:rPr>
              <a:t>It reads repo identity first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297680" y="2414016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</a:rPr>
              <a:t>Git root, branch, remote, changed files, and source/test structure.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868680" y="3081528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78408" y="3172968"/>
            <a:ext cx="1005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25880" y="307238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529"/>
                </a:solidFill>
              </a:rPr>
              <a:t>It runs the same gates developers care about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297680" y="3072384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</a:rPr>
              <a:t>Ruff, secrets, Bandit, tests, coverage, Dockerfile, SonarQube.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868680" y="3739896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78408" y="3831336"/>
            <a:ext cx="1005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25880" y="37307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529"/>
                </a:solidFill>
              </a:rPr>
              <a:t>It explains failures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3730752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</a:rPr>
              <a:t>Who owns it, why it failed, how to fix it, and whether it is safe to patch.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868680" y="4398264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78408" y="4489704"/>
            <a:ext cx="1005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25880" y="43891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529"/>
                </a:solidFill>
              </a:rPr>
              <a:t>It creates evidence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97680" y="438912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</a:rPr>
              <a:t>ZIP, Markdown, JSON, coverage.xml, test-results.xml and PR comment.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868680" y="5056632"/>
            <a:ext cx="32004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78408" y="5148072"/>
            <a:ext cx="100584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25880" y="50474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529"/>
                </a:solidFill>
              </a:rPr>
              <a:t>It preserves governance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297680" y="504748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4748B"/>
                </a:solidFill>
              </a:rPr>
              <a:t>Production, secrets, architecture and compliance approvals remain human-owned.</a:t>
            </a:r>
            <a:endParaRPr lang="en-US" sz="12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3180</Words>
  <Application>Microsoft Office PowerPoint</Application>
  <PresentationFormat>Widescreen</PresentationFormat>
  <Paragraphs>615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Pearce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AegisFlow: DevSecOps Pipeline Orchestrator Agent</dc:title>
  <dc:subject>AegisFlow DevSecOps Pipeline Orchestrator Agent</dc:subject>
  <dc:creator>OpenAI</dc:creator>
  <cp:lastModifiedBy>Anubha Parashar</cp:lastModifiedBy>
  <cp:revision>2</cp:revision>
  <dcterms:created xsi:type="dcterms:W3CDTF">2026-05-31T03:59:07Z</dcterms:created>
  <dcterms:modified xsi:type="dcterms:W3CDTF">2026-05-31T20:16:29Z</dcterms:modified>
</cp:coreProperties>
</file>